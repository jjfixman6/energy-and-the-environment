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 no script. Advance immediately after introduction.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2050, global electricity demand is projected to double. At the same time, we need to cut carbon emissions by roughly fifty percent this decade. Renewables are essential — but solar and wind are intermittent. They cannot guarantee power at 2am in January. Conventional nuclear can — but it costs twenty to thirty billion dollars per plant and takes over fifteen years to build. So the question is: can we get nuclear's reliability without its cost and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the premise behind Small Modular Reactors. An SMR isn't just a smaller reactor — it's a fundamentally different manufacturing model. A conventional plant exceeds 1,000 megawatts and is built entirely on-site — custom-engineered, slow, and expensive. An SMR is under 300 megawatts, factory-fabricated under controlled conditions, then shipped and assembled on-site. That distinction is critical. Factory production means standardized components, tighter quality control, and learning-curve cost reductions — the same logic that transformed aerospace and shipbuilding. And crucially, you don't commit twenty billion dollars upfront. You deploy modules incrementally, matching capacity to demand.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underlying physics is identical to any nuclear plant. Uranium-235 undergoes fission — the nucleus splits, and because the fission products have slightly less mass than the original atom, that mass difference is converted to energy, exactly as E equals mc squared predicts. That energy heats pressurized water — held above 300 degrees Celsius by maintaining high pressure — which transfers thermal energy to a secondary loop through a steam generator. The steam drives a turbine connected to a generator. Thermodynamic efficiency sits at 30 to 35 percent — that's the Rankine cycle ceiling for this temperature range. Not a design flaw — just physics.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here is where NuScale's design makes a genuinely important engineering contribution. Every nuclear reactor — even after shutdown — continues producing decay heat from fission product decay. In a conventional plant, you remove that heat with electrically powered pumps. But pumps need power, and power can fail. Fukushima showed exactly what happens when it does. NuScale eliminates that single point of failure entirely. Its cooling system relies on natural circulation: heated coolant is less dense, so it rises; cooler fluid descends to replace it. This is a convection loop driven by thermodynamics alone — no pumps, no external power, no operator action required. The safety case is physics, not procedure.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NuScale is the most deployment-ready SMR design in the world. It is the first — and currently only — SMR to receive design certification from the U.S. Nuclear Regulatory Commission, arguably the most rigorous nuclear regulator on earth. Its integral pressurized water reactor design consolidates the reactor core, steam generator, and pressurizer into a single sealed pressure vessel — eliminating external piping and the failure points that come with it. Each module produces 77 megawatts electric. Six modules give you a 462 megawatt plant.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hard part — and I want to be honest about this. Capital costs for SMRs are currently estimated at six to ten thousand dollars per kilowatt installed. That is not cheaper than conventional nuclear — it's comparable or worse on a per-kilowatt basis. Projected levelized cost of energy sits at 65 to 90 dollars per megawatt-hour. That beats natural gas when you factor in carbon pricing, but it cannot compete with utility-scale solar at 30 to 40 dollars. The core problem is loss of economies of scale — larger plants spread fixed costs across more megawatts. SMRs don't get that advantage yet. And the cancellation of NuScale's flagship Idaho project confirmed that first-of-a-kind cost risk is real, not theoretical.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structural barriers remain. First, regulatory: even with NRC certification, project-level licensing is slow and expensive — the regulatory framework was not designed for modular, repeated deployment. Second, supply chain: the factory manufacturing model that makes SMRs attractive doesn't exist at scale yet, so the cost advantages remain largely theoretical. Third, market competition: solar and wind costs keep falling. SMRs need to achieve nth-of-a-kind economics — where the tenth or twentieth unit benefits from accumulated manufacturing learning — to close that gap. That requires the first plants to actually get built.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where does that leave us? Small Modular Reactors are not a silver bullet. They will not out-compete solar on cost, and they will not solve the storage problem that renewables face. But what they offer is something very specific: firm, dispatchable, low-carbon baseload power — the kind of generation the grid needs when the wind stops blowing and the sun goes down. The engineering is proven. The passive safety is real. The remaining barrier is economic — and it is solvable, if the first projects get financed and built.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Rectangle 1"/>
          <p:cNvSpPr/>
          <p:nvPr/>
        </p:nvSpPr>
        <p:spPr>
          <a:xfrm>
            <a:off x="0" y="0"/>
            <a:ext cx="12192000" cy="54864"/>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9144000" cy="1371600"/>
          </a:xfrm>
          <a:prstGeom prst="rect">
            <a:avLst/>
          </a:prstGeom>
          <a:noFill/>
        </p:spPr>
        <p:txBody>
          <a:bodyPr wrap="square">
            <a:spAutoFit/>
          </a:bodyPr>
          <a:lstStyle/>
          <a:p>
            <a:pPr algn="ctr">
              <a:defRPr sz="4800" b="1">
                <a:solidFill>
                  <a:srgbClr val="FFFFFF"/>
                </a:solidFill>
                <a:latin typeface="Calibri"/>
              </a:defRPr>
            </a:pPr>
            <a:r>
              <a:t>Small Modular Reactors</a:t>
            </a:r>
          </a:p>
        </p:txBody>
      </p:sp>
      <p:sp>
        <p:nvSpPr>
          <p:cNvPr id="4" name="TextBox 3"/>
          <p:cNvSpPr txBox="1"/>
          <p:nvPr/>
        </p:nvSpPr>
        <p:spPr>
          <a:xfrm>
            <a:off x="1371600" y="3200400"/>
            <a:ext cx="9144000" cy="914400"/>
          </a:xfrm>
          <a:prstGeom prst="rect">
            <a:avLst/>
          </a:prstGeom>
          <a:noFill/>
        </p:spPr>
        <p:txBody>
          <a:bodyPr wrap="square">
            <a:spAutoFit/>
          </a:bodyPr>
          <a:lstStyle/>
          <a:p>
            <a:pPr algn="ctr">
              <a:defRPr sz="2400" b="0">
                <a:solidFill>
                  <a:srgbClr val="4EC9B0"/>
                </a:solidFill>
                <a:latin typeface="Calibri Light"/>
              </a:defRPr>
            </a:pPr>
            <a:r>
              <a:t>Engineering, Economics, and the Case for NuScale</a:t>
            </a:r>
          </a:p>
        </p:txBody>
      </p:sp>
      <p:sp>
        <p:nvSpPr>
          <p:cNvPr id="5" name="Rectangle 4"/>
          <p:cNvSpPr/>
          <p:nvPr/>
        </p:nvSpPr>
        <p:spPr>
          <a:xfrm>
            <a:off x="5029200" y="4206240"/>
            <a:ext cx="210312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4572000"/>
            <a:ext cx="9144000" cy="548640"/>
          </a:xfrm>
          <a:prstGeom prst="rect">
            <a:avLst/>
          </a:prstGeom>
          <a:noFill/>
        </p:spPr>
        <p:txBody>
          <a:bodyPr wrap="square">
            <a:spAutoFit/>
          </a:bodyPr>
          <a:lstStyle/>
          <a:p>
            <a:pPr algn="ctr">
              <a:defRPr sz="1800" b="0">
                <a:solidFill>
                  <a:srgbClr val="8A8EA8"/>
                </a:solidFill>
                <a:latin typeface="Calibri Light"/>
              </a:defRPr>
            </a:pPr>
            <a:r>
              <a:t>Energy and the Environment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Rectangle 1"/>
          <p:cNvSpPr/>
          <p:nvPr/>
        </p:nvSpPr>
        <p:spPr>
          <a:xfrm>
            <a:off x="0" y="0"/>
            <a:ext cx="12192000" cy="54864"/>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822960"/>
          </a:xfrm>
          <a:prstGeom prst="rect">
            <a:avLst/>
          </a:prstGeom>
          <a:noFill/>
        </p:spPr>
        <p:txBody>
          <a:bodyPr wrap="square">
            <a:spAutoFit/>
          </a:bodyPr>
          <a:lstStyle/>
          <a:p>
            <a:pPr algn="l">
              <a:defRPr sz="3600" b="1">
                <a:solidFill>
                  <a:srgbClr val="FFFFFF"/>
                </a:solidFill>
                <a:latin typeface="Calibri"/>
              </a:defRPr>
            </a:pPr>
            <a:r>
              <a:t>The Baseload Problem</a:t>
            </a:r>
          </a:p>
        </p:txBody>
      </p:sp>
      <p:sp>
        <p:nvSpPr>
          <p:cNvPr id="4" name="Rectangle 3"/>
          <p:cNvSpPr/>
          <p:nvPr/>
        </p:nvSpPr>
        <p:spPr>
          <a:xfrm>
            <a:off x="731520" y="1234440"/>
            <a:ext cx="228600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6" name="TextBox 5"/>
          <p:cNvSpPr txBox="1"/>
          <p:nvPr/>
        </p:nvSpPr>
        <p:spPr>
          <a:xfrm>
            <a:off x="1097280" y="1645920"/>
            <a:ext cx="5029200" cy="502920"/>
          </a:xfrm>
          <a:prstGeom prst="rect">
            <a:avLst/>
          </a:prstGeom>
          <a:noFill/>
        </p:spPr>
        <p:txBody>
          <a:bodyPr wrap="square">
            <a:spAutoFit/>
          </a:bodyPr>
          <a:lstStyle/>
          <a:p>
            <a:pPr algn="l">
              <a:defRPr sz="2000" b="0">
                <a:solidFill>
                  <a:srgbClr val="D0D4E4"/>
                </a:solidFill>
                <a:latin typeface="Calibri Light"/>
              </a:defRPr>
            </a:pPr>
            <a:r>
              <a:t>Global electricity demand: 2x by 2050</a:t>
            </a:r>
          </a:p>
        </p:txBody>
      </p:sp>
      <p:sp>
        <p:nvSpPr>
          <p:cNvPr id="7" name="TextBox 6"/>
          <p:cNvSpPr txBox="1"/>
          <p:nvPr/>
        </p:nvSpPr>
        <p:spPr>
          <a:xfrm>
            <a:off x="731520" y="224028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8" name="TextBox 7"/>
          <p:cNvSpPr txBox="1"/>
          <p:nvPr/>
        </p:nvSpPr>
        <p:spPr>
          <a:xfrm>
            <a:off x="1097280" y="2240280"/>
            <a:ext cx="5029200" cy="502920"/>
          </a:xfrm>
          <a:prstGeom prst="rect">
            <a:avLst/>
          </a:prstGeom>
          <a:noFill/>
        </p:spPr>
        <p:txBody>
          <a:bodyPr wrap="square">
            <a:spAutoFit/>
          </a:bodyPr>
          <a:lstStyle/>
          <a:p>
            <a:pPr algn="l">
              <a:defRPr sz="2000" b="0">
                <a:solidFill>
                  <a:srgbClr val="D0D4E4"/>
                </a:solidFill>
                <a:latin typeface="Calibri Light"/>
              </a:defRPr>
            </a:pPr>
            <a:r>
              <a:t>Renewables: intermittent, no 24/7 guarantee</a:t>
            </a:r>
          </a:p>
        </p:txBody>
      </p:sp>
      <p:sp>
        <p:nvSpPr>
          <p:cNvPr id="9" name="TextBox 8"/>
          <p:cNvSpPr txBox="1"/>
          <p:nvPr/>
        </p:nvSpPr>
        <p:spPr>
          <a:xfrm>
            <a:off x="731520" y="283464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10" name="TextBox 9"/>
          <p:cNvSpPr txBox="1"/>
          <p:nvPr/>
        </p:nvSpPr>
        <p:spPr>
          <a:xfrm>
            <a:off x="1097280" y="2834640"/>
            <a:ext cx="5029200" cy="502920"/>
          </a:xfrm>
          <a:prstGeom prst="rect">
            <a:avLst/>
          </a:prstGeom>
          <a:noFill/>
        </p:spPr>
        <p:txBody>
          <a:bodyPr wrap="square">
            <a:spAutoFit/>
          </a:bodyPr>
          <a:lstStyle/>
          <a:p>
            <a:pPr algn="l">
              <a:defRPr sz="2000" b="0">
                <a:solidFill>
                  <a:srgbClr val="D0D4E4"/>
                </a:solidFill>
                <a:latin typeface="Calibri Light"/>
              </a:defRPr>
            </a:pPr>
            <a:r>
              <a:t>Conventional nuclear: $20-30B, 15+ years</a:t>
            </a:r>
          </a:p>
        </p:txBody>
      </p:sp>
      <p:sp>
        <p:nvSpPr>
          <p:cNvPr id="11" name="Rounded Rectangle 10"/>
          <p:cNvSpPr/>
          <p:nvPr/>
        </p:nvSpPr>
        <p:spPr>
          <a:xfrm>
            <a:off x="6583680" y="1371600"/>
            <a:ext cx="4846320" cy="3840480"/>
          </a:xfrm>
          <a:prstGeom prst="roundRect">
            <a:avLst/>
          </a:prstGeom>
          <a:noFill/>
          <a:ln w="12700">
            <a:solidFill>
              <a:srgbClr val="3A3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2926080"/>
            <a:ext cx="4389120" cy="731520"/>
          </a:xfrm>
          <a:prstGeom prst="rect">
            <a:avLst/>
          </a:prstGeom>
          <a:noFill/>
        </p:spPr>
        <p:txBody>
          <a:bodyPr wrap="square">
            <a:spAutoFit/>
          </a:bodyPr>
          <a:lstStyle/>
          <a:p>
            <a:pPr algn="ctr">
              <a:defRPr sz="1400" b="0">
                <a:solidFill>
                  <a:srgbClr val="8A8EA8"/>
                </a:solidFill>
                <a:latin typeface="Calibri Light"/>
              </a:defRPr>
            </a:pPr>
            <a:r>
              <a:t>[Visual: see slides.md for specs]</a:t>
            </a:r>
          </a:p>
        </p:txBody>
      </p:sp>
      <p:sp>
        <p:nvSpPr>
          <p:cNvPr id="13" name="TextBox 12"/>
          <p:cNvSpPr txBox="1"/>
          <p:nvPr/>
        </p:nvSpPr>
        <p:spPr>
          <a:xfrm>
            <a:off x="731520" y="5669280"/>
            <a:ext cx="10058400" cy="548640"/>
          </a:xfrm>
          <a:prstGeom prst="rect">
            <a:avLst/>
          </a:prstGeom>
          <a:noFill/>
        </p:spPr>
        <p:txBody>
          <a:bodyPr wrap="square">
            <a:spAutoFit/>
          </a:bodyPr>
          <a:lstStyle/>
          <a:p>
            <a:pPr algn="l">
              <a:defRPr sz="1600" b="0">
                <a:solidFill>
                  <a:srgbClr val="4EC9B0"/>
                </a:solidFill>
                <a:latin typeface="Calibri Light"/>
              </a:defRPr>
            </a:pPr>
            <a:r>
              <a:t>Can we get nuclear reliability without the cost?</a:t>
            </a:r>
          </a:p>
        </p:txBody>
      </p:sp>
      <p:sp>
        <p:nvSpPr>
          <p:cNvPr id="14" name="TextBox 13"/>
          <p:cNvSpPr txBox="1"/>
          <p:nvPr/>
        </p:nvSpPr>
        <p:spPr>
          <a:xfrm>
            <a:off x="10972800" y="6217920"/>
            <a:ext cx="914400" cy="365760"/>
          </a:xfrm>
          <a:prstGeom prst="rect">
            <a:avLst/>
          </a:prstGeom>
          <a:noFill/>
        </p:spPr>
        <p:txBody>
          <a:bodyPr wrap="square">
            <a:spAutoFit/>
          </a:bodyPr>
          <a:lstStyle/>
          <a:p>
            <a:pPr algn="r">
              <a:defRPr sz="1100" b="0">
                <a:solidFill>
                  <a:srgbClr val="606480"/>
                </a:solidFill>
                <a:latin typeface="Calibri Light"/>
              </a:defRPr>
            </a:pPr>
            <a:r>
              <a:t>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Rectangle 1"/>
          <p:cNvSpPr/>
          <p:nvPr/>
        </p:nvSpPr>
        <p:spPr>
          <a:xfrm>
            <a:off x="0" y="0"/>
            <a:ext cx="12192000" cy="54864"/>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822960"/>
          </a:xfrm>
          <a:prstGeom prst="rect">
            <a:avLst/>
          </a:prstGeom>
          <a:noFill/>
        </p:spPr>
        <p:txBody>
          <a:bodyPr wrap="square">
            <a:spAutoFit/>
          </a:bodyPr>
          <a:lstStyle/>
          <a:p>
            <a:pPr algn="l">
              <a:defRPr sz="3600" b="1">
                <a:solidFill>
                  <a:srgbClr val="FFFFFF"/>
                </a:solidFill>
                <a:latin typeface="Calibri"/>
              </a:defRPr>
            </a:pPr>
            <a:r>
              <a:t>A New Manufacturing Model</a:t>
            </a:r>
          </a:p>
        </p:txBody>
      </p:sp>
      <p:sp>
        <p:nvSpPr>
          <p:cNvPr id="4" name="Rectangle 3"/>
          <p:cNvSpPr/>
          <p:nvPr/>
        </p:nvSpPr>
        <p:spPr>
          <a:xfrm>
            <a:off x="731520" y="1234440"/>
            <a:ext cx="228600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6" name="TextBox 5"/>
          <p:cNvSpPr txBox="1"/>
          <p:nvPr/>
        </p:nvSpPr>
        <p:spPr>
          <a:xfrm>
            <a:off x="1097280" y="1645920"/>
            <a:ext cx="5029200" cy="502920"/>
          </a:xfrm>
          <a:prstGeom prst="rect">
            <a:avLst/>
          </a:prstGeom>
          <a:noFill/>
        </p:spPr>
        <p:txBody>
          <a:bodyPr wrap="square">
            <a:spAutoFit/>
          </a:bodyPr>
          <a:lstStyle/>
          <a:p>
            <a:pPr algn="l">
              <a:defRPr sz="2000" b="0">
                <a:solidFill>
                  <a:srgbClr val="D0D4E4"/>
                </a:solidFill>
                <a:latin typeface="Calibri Light"/>
              </a:defRPr>
            </a:pPr>
            <a:r>
              <a:t>&lt; 300 MW, factory-built modules</a:t>
            </a:r>
          </a:p>
        </p:txBody>
      </p:sp>
      <p:sp>
        <p:nvSpPr>
          <p:cNvPr id="7" name="TextBox 6"/>
          <p:cNvSpPr txBox="1"/>
          <p:nvPr/>
        </p:nvSpPr>
        <p:spPr>
          <a:xfrm>
            <a:off x="731520" y="224028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8" name="TextBox 7"/>
          <p:cNvSpPr txBox="1"/>
          <p:nvPr/>
        </p:nvSpPr>
        <p:spPr>
          <a:xfrm>
            <a:off x="1097280" y="2240280"/>
            <a:ext cx="5029200" cy="502920"/>
          </a:xfrm>
          <a:prstGeom prst="rect">
            <a:avLst/>
          </a:prstGeom>
          <a:noFill/>
        </p:spPr>
        <p:txBody>
          <a:bodyPr wrap="square">
            <a:spAutoFit/>
          </a:bodyPr>
          <a:lstStyle/>
          <a:p>
            <a:pPr algn="l">
              <a:defRPr sz="2000" b="0">
                <a:solidFill>
                  <a:srgbClr val="D0D4E4"/>
                </a:solidFill>
                <a:latin typeface="Calibri Light"/>
              </a:defRPr>
            </a:pPr>
            <a:r>
              <a:t>Standardized components, shipped to site</a:t>
            </a:r>
          </a:p>
        </p:txBody>
      </p:sp>
      <p:sp>
        <p:nvSpPr>
          <p:cNvPr id="9" name="TextBox 8"/>
          <p:cNvSpPr txBox="1"/>
          <p:nvPr/>
        </p:nvSpPr>
        <p:spPr>
          <a:xfrm>
            <a:off x="731520" y="283464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10" name="TextBox 9"/>
          <p:cNvSpPr txBox="1"/>
          <p:nvPr/>
        </p:nvSpPr>
        <p:spPr>
          <a:xfrm>
            <a:off x="1097280" y="2834640"/>
            <a:ext cx="5029200" cy="502920"/>
          </a:xfrm>
          <a:prstGeom prst="rect">
            <a:avLst/>
          </a:prstGeom>
          <a:noFill/>
        </p:spPr>
        <p:txBody>
          <a:bodyPr wrap="square">
            <a:spAutoFit/>
          </a:bodyPr>
          <a:lstStyle/>
          <a:p>
            <a:pPr algn="l">
              <a:defRPr sz="2000" b="0">
                <a:solidFill>
                  <a:srgbClr val="D0D4E4"/>
                </a:solidFill>
                <a:latin typeface="Calibri Light"/>
              </a:defRPr>
            </a:pPr>
            <a:r>
              <a:t>Incremental deployment as demand grows</a:t>
            </a:r>
          </a:p>
        </p:txBody>
      </p:sp>
      <p:sp>
        <p:nvSpPr>
          <p:cNvPr id="11" name="Rounded Rectangle 10"/>
          <p:cNvSpPr/>
          <p:nvPr/>
        </p:nvSpPr>
        <p:spPr>
          <a:xfrm>
            <a:off x="6583680" y="1371600"/>
            <a:ext cx="4846320" cy="3840480"/>
          </a:xfrm>
          <a:prstGeom prst="roundRect">
            <a:avLst/>
          </a:prstGeom>
          <a:noFill/>
          <a:ln w="12700">
            <a:solidFill>
              <a:srgbClr val="3A3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2926080"/>
            <a:ext cx="4389120" cy="731520"/>
          </a:xfrm>
          <a:prstGeom prst="rect">
            <a:avLst/>
          </a:prstGeom>
          <a:noFill/>
        </p:spPr>
        <p:txBody>
          <a:bodyPr wrap="square">
            <a:spAutoFit/>
          </a:bodyPr>
          <a:lstStyle/>
          <a:p>
            <a:pPr algn="ctr">
              <a:defRPr sz="1400" b="0">
                <a:solidFill>
                  <a:srgbClr val="8A8EA8"/>
                </a:solidFill>
                <a:latin typeface="Calibri Light"/>
              </a:defRPr>
            </a:pPr>
            <a:r>
              <a:t>[Visual: see slides.md for specs]</a:t>
            </a:r>
          </a:p>
        </p:txBody>
      </p:sp>
      <p:sp>
        <p:nvSpPr>
          <p:cNvPr id="13" name="TextBox 12"/>
          <p:cNvSpPr txBox="1"/>
          <p:nvPr/>
        </p:nvSpPr>
        <p:spPr>
          <a:xfrm>
            <a:off x="731520" y="5669280"/>
            <a:ext cx="10058400" cy="548640"/>
          </a:xfrm>
          <a:prstGeom prst="rect">
            <a:avLst/>
          </a:prstGeom>
          <a:noFill/>
        </p:spPr>
        <p:txBody>
          <a:bodyPr wrap="square">
            <a:spAutoFit/>
          </a:bodyPr>
          <a:lstStyle/>
          <a:p>
            <a:pPr algn="l">
              <a:defRPr sz="1600" b="0">
                <a:solidFill>
                  <a:srgbClr val="4EC9B0"/>
                </a:solidFill>
                <a:latin typeface="Calibri Light"/>
              </a:defRPr>
            </a:pPr>
            <a:r>
              <a:t>Not a smaller reactor — a different construction paradigm</a:t>
            </a:r>
          </a:p>
        </p:txBody>
      </p:sp>
      <p:sp>
        <p:nvSpPr>
          <p:cNvPr id="14" name="TextBox 13"/>
          <p:cNvSpPr txBox="1"/>
          <p:nvPr/>
        </p:nvSpPr>
        <p:spPr>
          <a:xfrm>
            <a:off x="10972800" y="6217920"/>
            <a:ext cx="914400" cy="365760"/>
          </a:xfrm>
          <a:prstGeom prst="rect">
            <a:avLst/>
          </a:prstGeom>
          <a:noFill/>
        </p:spPr>
        <p:txBody>
          <a:bodyPr wrap="square">
            <a:spAutoFit/>
          </a:bodyPr>
          <a:lstStyle/>
          <a:p>
            <a:pPr algn="r">
              <a:defRPr sz="1100" b="0">
                <a:solidFill>
                  <a:srgbClr val="606480"/>
                </a:solidFill>
                <a:latin typeface="Calibri Light"/>
              </a:defRPr>
            </a:pPr>
            <a:r>
              <a:t>2/8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Rectangle 1"/>
          <p:cNvSpPr/>
          <p:nvPr/>
        </p:nvSpPr>
        <p:spPr>
          <a:xfrm>
            <a:off x="0" y="0"/>
            <a:ext cx="12192000" cy="54864"/>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822960"/>
          </a:xfrm>
          <a:prstGeom prst="rect">
            <a:avLst/>
          </a:prstGeom>
          <a:noFill/>
        </p:spPr>
        <p:txBody>
          <a:bodyPr wrap="square">
            <a:spAutoFit/>
          </a:bodyPr>
          <a:lstStyle/>
          <a:p>
            <a:pPr algn="l">
              <a:defRPr sz="3600" b="1">
                <a:solidFill>
                  <a:srgbClr val="FFFFFF"/>
                </a:solidFill>
                <a:latin typeface="Calibri"/>
              </a:defRPr>
            </a:pPr>
            <a:r>
              <a:t>How It Works: Fission to Grid</a:t>
            </a:r>
          </a:p>
        </p:txBody>
      </p:sp>
      <p:sp>
        <p:nvSpPr>
          <p:cNvPr id="4" name="Rectangle 3"/>
          <p:cNvSpPr/>
          <p:nvPr/>
        </p:nvSpPr>
        <p:spPr>
          <a:xfrm>
            <a:off x="731520" y="1234440"/>
            <a:ext cx="228600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6" name="TextBox 5"/>
          <p:cNvSpPr txBox="1"/>
          <p:nvPr/>
        </p:nvSpPr>
        <p:spPr>
          <a:xfrm>
            <a:off x="1097280" y="1645920"/>
            <a:ext cx="5029200" cy="502920"/>
          </a:xfrm>
          <a:prstGeom prst="rect">
            <a:avLst/>
          </a:prstGeom>
          <a:noFill/>
        </p:spPr>
        <p:txBody>
          <a:bodyPr wrap="square">
            <a:spAutoFit/>
          </a:bodyPr>
          <a:lstStyle/>
          <a:p>
            <a:pPr algn="l">
              <a:defRPr sz="2000" b="0">
                <a:solidFill>
                  <a:srgbClr val="D0D4E4"/>
                </a:solidFill>
                <a:latin typeface="Calibri Light"/>
              </a:defRPr>
            </a:pPr>
            <a:r>
              <a:t>U-235 fission → E = mc² energy release</a:t>
            </a:r>
          </a:p>
        </p:txBody>
      </p:sp>
      <p:sp>
        <p:nvSpPr>
          <p:cNvPr id="7" name="TextBox 6"/>
          <p:cNvSpPr txBox="1"/>
          <p:nvPr/>
        </p:nvSpPr>
        <p:spPr>
          <a:xfrm>
            <a:off x="731520" y="224028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8" name="TextBox 7"/>
          <p:cNvSpPr txBox="1"/>
          <p:nvPr/>
        </p:nvSpPr>
        <p:spPr>
          <a:xfrm>
            <a:off x="1097280" y="2240280"/>
            <a:ext cx="5029200" cy="502920"/>
          </a:xfrm>
          <a:prstGeom prst="rect">
            <a:avLst/>
          </a:prstGeom>
          <a:noFill/>
        </p:spPr>
        <p:txBody>
          <a:bodyPr wrap="square">
            <a:spAutoFit/>
          </a:bodyPr>
          <a:lstStyle/>
          <a:p>
            <a:pPr algn="l">
              <a:defRPr sz="2000" b="0">
                <a:solidFill>
                  <a:srgbClr val="D0D4E4"/>
                </a:solidFill>
                <a:latin typeface="Calibri Light"/>
              </a:defRPr>
            </a:pPr>
            <a:r>
              <a:t>Heat → pressurized water → steam generator</a:t>
            </a:r>
          </a:p>
        </p:txBody>
      </p:sp>
      <p:sp>
        <p:nvSpPr>
          <p:cNvPr id="9" name="TextBox 8"/>
          <p:cNvSpPr txBox="1"/>
          <p:nvPr/>
        </p:nvSpPr>
        <p:spPr>
          <a:xfrm>
            <a:off x="731520" y="283464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10" name="TextBox 9"/>
          <p:cNvSpPr txBox="1"/>
          <p:nvPr/>
        </p:nvSpPr>
        <p:spPr>
          <a:xfrm>
            <a:off x="1097280" y="2834640"/>
            <a:ext cx="5029200" cy="502920"/>
          </a:xfrm>
          <a:prstGeom prst="rect">
            <a:avLst/>
          </a:prstGeom>
          <a:noFill/>
        </p:spPr>
        <p:txBody>
          <a:bodyPr wrap="square">
            <a:spAutoFit/>
          </a:bodyPr>
          <a:lstStyle/>
          <a:p>
            <a:pPr algn="l">
              <a:defRPr sz="2000" b="0">
                <a:solidFill>
                  <a:srgbClr val="D0D4E4"/>
                </a:solidFill>
                <a:latin typeface="Calibri Light"/>
              </a:defRPr>
            </a:pPr>
            <a:r>
              <a:t>Rankine cycle: 30-35% thermal efficiency</a:t>
            </a:r>
          </a:p>
        </p:txBody>
      </p:sp>
      <p:sp>
        <p:nvSpPr>
          <p:cNvPr id="11" name="Rounded Rectangle 10"/>
          <p:cNvSpPr/>
          <p:nvPr/>
        </p:nvSpPr>
        <p:spPr>
          <a:xfrm>
            <a:off x="6583680" y="1371600"/>
            <a:ext cx="4846320" cy="3840480"/>
          </a:xfrm>
          <a:prstGeom prst="roundRect">
            <a:avLst/>
          </a:prstGeom>
          <a:noFill/>
          <a:ln w="12700">
            <a:solidFill>
              <a:srgbClr val="3A3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2926080"/>
            <a:ext cx="4389120" cy="731520"/>
          </a:xfrm>
          <a:prstGeom prst="rect">
            <a:avLst/>
          </a:prstGeom>
          <a:noFill/>
        </p:spPr>
        <p:txBody>
          <a:bodyPr wrap="square">
            <a:spAutoFit/>
          </a:bodyPr>
          <a:lstStyle/>
          <a:p>
            <a:pPr algn="ctr">
              <a:defRPr sz="1400" b="0">
                <a:solidFill>
                  <a:srgbClr val="8A8EA8"/>
                </a:solidFill>
                <a:latin typeface="Calibri Light"/>
              </a:defRPr>
            </a:pPr>
            <a:r>
              <a:t>[Visual: see slides.md for specs]</a:t>
            </a:r>
          </a:p>
        </p:txBody>
      </p:sp>
      <p:sp>
        <p:nvSpPr>
          <p:cNvPr id="13" name="TextBox 12"/>
          <p:cNvSpPr txBox="1"/>
          <p:nvPr/>
        </p:nvSpPr>
        <p:spPr>
          <a:xfrm>
            <a:off x="731520" y="5669280"/>
            <a:ext cx="10058400" cy="548640"/>
          </a:xfrm>
          <a:prstGeom prst="rect">
            <a:avLst/>
          </a:prstGeom>
          <a:noFill/>
        </p:spPr>
        <p:txBody>
          <a:bodyPr wrap="square">
            <a:spAutoFit/>
          </a:bodyPr>
          <a:lstStyle/>
          <a:p>
            <a:pPr algn="l">
              <a:defRPr sz="1600" b="0">
                <a:solidFill>
                  <a:srgbClr val="4EC9B0"/>
                </a:solidFill>
                <a:latin typeface="Calibri Light"/>
              </a:defRPr>
            </a:pPr>
            <a:r>
              <a:t>Not a design flaw — just physics</a:t>
            </a:r>
          </a:p>
        </p:txBody>
      </p:sp>
      <p:sp>
        <p:nvSpPr>
          <p:cNvPr id="14" name="TextBox 13"/>
          <p:cNvSpPr txBox="1"/>
          <p:nvPr/>
        </p:nvSpPr>
        <p:spPr>
          <a:xfrm>
            <a:off x="10972800" y="6217920"/>
            <a:ext cx="914400" cy="365760"/>
          </a:xfrm>
          <a:prstGeom prst="rect">
            <a:avLst/>
          </a:prstGeom>
          <a:noFill/>
        </p:spPr>
        <p:txBody>
          <a:bodyPr wrap="square">
            <a:spAutoFit/>
          </a:bodyPr>
          <a:lstStyle/>
          <a:p>
            <a:pPr algn="r">
              <a:defRPr sz="1100" b="0">
                <a:solidFill>
                  <a:srgbClr val="606480"/>
                </a:solidFill>
                <a:latin typeface="Calibri Light"/>
              </a:defRPr>
            </a:pPr>
            <a:r>
              <a:t>3/8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Rectangle 1"/>
          <p:cNvSpPr/>
          <p:nvPr/>
        </p:nvSpPr>
        <p:spPr>
          <a:xfrm>
            <a:off x="0" y="0"/>
            <a:ext cx="12192000" cy="54864"/>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822960"/>
          </a:xfrm>
          <a:prstGeom prst="rect">
            <a:avLst/>
          </a:prstGeom>
          <a:noFill/>
        </p:spPr>
        <p:txBody>
          <a:bodyPr wrap="square">
            <a:spAutoFit/>
          </a:bodyPr>
          <a:lstStyle/>
          <a:p>
            <a:pPr algn="l">
              <a:defRPr sz="3600" b="1">
                <a:solidFill>
                  <a:srgbClr val="FFFFFF"/>
                </a:solidFill>
                <a:latin typeface="Calibri"/>
              </a:defRPr>
            </a:pPr>
            <a:r>
              <a:t>NuScale: Passive Safety</a:t>
            </a:r>
          </a:p>
        </p:txBody>
      </p:sp>
      <p:sp>
        <p:nvSpPr>
          <p:cNvPr id="4" name="Rectangle 3"/>
          <p:cNvSpPr/>
          <p:nvPr/>
        </p:nvSpPr>
        <p:spPr>
          <a:xfrm>
            <a:off x="731520" y="1234440"/>
            <a:ext cx="228600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6" name="TextBox 5"/>
          <p:cNvSpPr txBox="1"/>
          <p:nvPr/>
        </p:nvSpPr>
        <p:spPr>
          <a:xfrm>
            <a:off x="1097280" y="1645920"/>
            <a:ext cx="5029200" cy="502920"/>
          </a:xfrm>
          <a:prstGeom prst="rect">
            <a:avLst/>
          </a:prstGeom>
          <a:noFill/>
        </p:spPr>
        <p:txBody>
          <a:bodyPr wrap="square">
            <a:spAutoFit/>
          </a:bodyPr>
          <a:lstStyle/>
          <a:p>
            <a:pPr algn="l">
              <a:defRPr sz="2000" b="0">
                <a:solidFill>
                  <a:srgbClr val="D0D4E4"/>
                </a:solidFill>
                <a:latin typeface="Calibri Light"/>
              </a:defRPr>
            </a:pPr>
            <a:r>
              <a:t>Natural circulation: no pumps needed</a:t>
            </a:r>
          </a:p>
        </p:txBody>
      </p:sp>
      <p:sp>
        <p:nvSpPr>
          <p:cNvPr id="7" name="TextBox 6"/>
          <p:cNvSpPr txBox="1"/>
          <p:nvPr/>
        </p:nvSpPr>
        <p:spPr>
          <a:xfrm>
            <a:off x="731520" y="224028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8" name="TextBox 7"/>
          <p:cNvSpPr txBox="1"/>
          <p:nvPr/>
        </p:nvSpPr>
        <p:spPr>
          <a:xfrm>
            <a:off x="1097280" y="2240280"/>
            <a:ext cx="5029200" cy="502920"/>
          </a:xfrm>
          <a:prstGeom prst="rect">
            <a:avLst/>
          </a:prstGeom>
          <a:noFill/>
        </p:spPr>
        <p:txBody>
          <a:bodyPr wrap="square">
            <a:spAutoFit/>
          </a:bodyPr>
          <a:lstStyle/>
          <a:p>
            <a:pPr algn="l">
              <a:defRPr sz="2000" b="0">
                <a:solidFill>
                  <a:srgbClr val="D0D4E4"/>
                </a:solidFill>
                <a:latin typeface="Calibri Light"/>
              </a:defRPr>
            </a:pPr>
            <a:r>
              <a:t>Gravity-driven cooling — no power required</a:t>
            </a:r>
          </a:p>
        </p:txBody>
      </p:sp>
      <p:sp>
        <p:nvSpPr>
          <p:cNvPr id="9" name="TextBox 8"/>
          <p:cNvSpPr txBox="1"/>
          <p:nvPr/>
        </p:nvSpPr>
        <p:spPr>
          <a:xfrm>
            <a:off x="731520" y="283464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10" name="TextBox 9"/>
          <p:cNvSpPr txBox="1"/>
          <p:nvPr/>
        </p:nvSpPr>
        <p:spPr>
          <a:xfrm>
            <a:off x="1097280" y="2834640"/>
            <a:ext cx="5029200" cy="502920"/>
          </a:xfrm>
          <a:prstGeom prst="rect">
            <a:avLst/>
          </a:prstGeom>
          <a:noFill/>
        </p:spPr>
        <p:txBody>
          <a:bodyPr wrap="square">
            <a:spAutoFit/>
          </a:bodyPr>
          <a:lstStyle/>
          <a:p>
            <a:pPr algn="l">
              <a:defRPr sz="2000" b="0">
                <a:solidFill>
                  <a:srgbClr val="D0D4E4"/>
                </a:solidFill>
                <a:latin typeface="Calibri Light"/>
              </a:defRPr>
            </a:pPr>
            <a:r>
              <a:t>Decay heat removed by thermodynamics alone</a:t>
            </a:r>
          </a:p>
        </p:txBody>
      </p:sp>
      <p:sp>
        <p:nvSpPr>
          <p:cNvPr id="11" name="Rounded Rectangle 10"/>
          <p:cNvSpPr/>
          <p:nvPr/>
        </p:nvSpPr>
        <p:spPr>
          <a:xfrm>
            <a:off x="6583680" y="1371600"/>
            <a:ext cx="4846320" cy="3840480"/>
          </a:xfrm>
          <a:prstGeom prst="roundRect">
            <a:avLst/>
          </a:prstGeom>
          <a:noFill/>
          <a:ln w="12700">
            <a:solidFill>
              <a:srgbClr val="3A3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2926080"/>
            <a:ext cx="4389120" cy="731520"/>
          </a:xfrm>
          <a:prstGeom prst="rect">
            <a:avLst/>
          </a:prstGeom>
          <a:noFill/>
        </p:spPr>
        <p:txBody>
          <a:bodyPr wrap="square">
            <a:spAutoFit/>
          </a:bodyPr>
          <a:lstStyle/>
          <a:p>
            <a:pPr algn="ctr">
              <a:defRPr sz="1400" b="0">
                <a:solidFill>
                  <a:srgbClr val="8A8EA8"/>
                </a:solidFill>
                <a:latin typeface="Calibri Light"/>
              </a:defRPr>
            </a:pPr>
            <a:r>
              <a:t>[Visual: see slides.md for specs]</a:t>
            </a:r>
          </a:p>
        </p:txBody>
      </p:sp>
      <p:sp>
        <p:nvSpPr>
          <p:cNvPr id="13" name="TextBox 12"/>
          <p:cNvSpPr txBox="1"/>
          <p:nvPr/>
        </p:nvSpPr>
        <p:spPr>
          <a:xfrm>
            <a:off x="731520" y="5669280"/>
            <a:ext cx="10058400" cy="548640"/>
          </a:xfrm>
          <a:prstGeom prst="rect">
            <a:avLst/>
          </a:prstGeom>
          <a:noFill/>
        </p:spPr>
        <p:txBody>
          <a:bodyPr wrap="square">
            <a:spAutoFit/>
          </a:bodyPr>
          <a:lstStyle/>
          <a:p>
            <a:pPr algn="l">
              <a:defRPr sz="1600" b="0">
                <a:solidFill>
                  <a:srgbClr val="4EC9B0"/>
                </a:solidFill>
                <a:latin typeface="Calibri Light"/>
              </a:defRPr>
            </a:pPr>
            <a:r>
              <a:t>The safety case is physics, not procedure</a:t>
            </a:r>
          </a:p>
        </p:txBody>
      </p:sp>
      <p:sp>
        <p:nvSpPr>
          <p:cNvPr id="14" name="TextBox 13"/>
          <p:cNvSpPr txBox="1"/>
          <p:nvPr/>
        </p:nvSpPr>
        <p:spPr>
          <a:xfrm>
            <a:off x="10972800" y="6217920"/>
            <a:ext cx="914400" cy="365760"/>
          </a:xfrm>
          <a:prstGeom prst="rect">
            <a:avLst/>
          </a:prstGeom>
          <a:noFill/>
        </p:spPr>
        <p:txBody>
          <a:bodyPr wrap="square">
            <a:spAutoFit/>
          </a:bodyPr>
          <a:lstStyle/>
          <a:p>
            <a:pPr algn="r">
              <a:defRPr sz="1100" b="0">
                <a:solidFill>
                  <a:srgbClr val="606480"/>
                </a:solidFill>
                <a:latin typeface="Calibri Light"/>
              </a:defRPr>
            </a:pPr>
            <a:r>
              <a:t>4/8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Rectangle 1"/>
          <p:cNvSpPr/>
          <p:nvPr/>
        </p:nvSpPr>
        <p:spPr>
          <a:xfrm>
            <a:off x="0" y="0"/>
            <a:ext cx="12192000" cy="54864"/>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822960"/>
          </a:xfrm>
          <a:prstGeom prst="rect">
            <a:avLst/>
          </a:prstGeom>
          <a:noFill/>
        </p:spPr>
        <p:txBody>
          <a:bodyPr wrap="square">
            <a:spAutoFit/>
          </a:bodyPr>
          <a:lstStyle/>
          <a:p>
            <a:pPr algn="l">
              <a:defRPr sz="3600" b="1">
                <a:solidFill>
                  <a:srgbClr val="FFFFFF"/>
                </a:solidFill>
                <a:latin typeface="Calibri"/>
              </a:defRPr>
            </a:pPr>
            <a:r>
              <a:t>Why NuScale Leads</a:t>
            </a:r>
          </a:p>
        </p:txBody>
      </p:sp>
      <p:sp>
        <p:nvSpPr>
          <p:cNvPr id="4" name="Rectangle 3"/>
          <p:cNvSpPr/>
          <p:nvPr/>
        </p:nvSpPr>
        <p:spPr>
          <a:xfrm>
            <a:off x="731520" y="1234440"/>
            <a:ext cx="228600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6" name="TextBox 5"/>
          <p:cNvSpPr txBox="1"/>
          <p:nvPr/>
        </p:nvSpPr>
        <p:spPr>
          <a:xfrm>
            <a:off x="1097280" y="1645920"/>
            <a:ext cx="5029200" cy="502920"/>
          </a:xfrm>
          <a:prstGeom prst="rect">
            <a:avLst/>
          </a:prstGeom>
          <a:noFill/>
        </p:spPr>
        <p:txBody>
          <a:bodyPr wrap="square">
            <a:spAutoFit/>
          </a:bodyPr>
          <a:lstStyle/>
          <a:p>
            <a:pPr algn="l">
              <a:defRPr sz="2000" b="0">
                <a:solidFill>
                  <a:srgbClr val="D0D4E4"/>
                </a:solidFill>
                <a:latin typeface="Calibri Light"/>
              </a:defRPr>
            </a:pPr>
            <a:r>
              <a:t>First &amp; only NRC-certified SMR design</a:t>
            </a:r>
          </a:p>
        </p:txBody>
      </p:sp>
      <p:sp>
        <p:nvSpPr>
          <p:cNvPr id="7" name="TextBox 6"/>
          <p:cNvSpPr txBox="1"/>
          <p:nvPr/>
        </p:nvSpPr>
        <p:spPr>
          <a:xfrm>
            <a:off x="731520" y="224028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8" name="TextBox 7"/>
          <p:cNvSpPr txBox="1"/>
          <p:nvPr/>
        </p:nvSpPr>
        <p:spPr>
          <a:xfrm>
            <a:off x="1097280" y="2240280"/>
            <a:ext cx="5029200" cy="502920"/>
          </a:xfrm>
          <a:prstGeom prst="rect">
            <a:avLst/>
          </a:prstGeom>
          <a:noFill/>
        </p:spPr>
        <p:txBody>
          <a:bodyPr wrap="square">
            <a:spAutoFit/>
          </a:bodyPr>
          <a:lstStyle/>
          <a:p>
            <a:pPr algn="l">
              <a:defRPr sz="2000" b="0">
                <a:solidFill>
                  <a:srgbClr val="D0D4E4"/>
                </a:solidFill>
                <a:latin typeface="Calibri Light"/>
              </a:defRPr>
            </a:pPr>
            <a:r>
              <a:t>Integral PWR: core + steam gen + pressurizer</a:t>
            </a:r>
          </a:p>
        </p:txBody>
      </p:sp>
      <p:sp>
        <p:nvSpPr>
          <p:cNvPr id="9" name="TextBox 8"/>
          <p:cNvSpPr txBox="1"/>
          <p:nvPr/>
        </p:nvSpPr>
        <p:spPr>
          <a:xfrm>
            <a:off x="731520" y="283464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10" name="TextBox 9"/>
          <p:cNvSpPr txBox="1"/>
          <p:nvPr/>
        </p:nvSpPr>
        <p:spPr>
          <a:xfrm>
            <a:off x="1097280" y="2834640"/>
            <a:ext cx="5029200" cy="502920"/>
          </a:xfrm>
          <a:prstGeom prst="rect">
            <a:avLst/>
          </a:prstGeom>
          <a:noFill/>
        </p:spPr>
        <p:txBody>
          <a:bodyPr wrap="square">
            <a:spAutoFit/>
          </a:bodyPr>
          <a:lstStyle/>
          <a:p>
            <a:pPr algn="l">
              <a:defRPr sz="2000" b="0">
                <a:solidFill>
                  <a:srgbClr val="D0D4E4"/>
                </a:solidFill>
                <a:latin typeface="Calibri Light"/>
              </a:defRPr>
            </a:pPr>
            <a:r>
              <a:t>77 MWe per module → 462 MW (6 modules)</a:t>
            </a:r>
          </a:p>
        </p:txBody>
      </p:sp>
      <p:sp>
        <p:nvSpPr>
          <p:cNvPr id="11" name="Rounded Rectangle 10"/>
          <p:cNvSpPr/>
          <p:nvPr/>
        </p:nvSpPr>
        <p:spPr>
          <a:xfrm>
            <a:off x="6583680" y="1371600"/>
            <a:ext cx="4846320" cy="3840480"/>
          </a:xfrm>
          <a:prstGeom prst="roundRect">
            <a:avLst/>
          </a:prstGeom>
          <a:noFill/>
          <a:ln w="12700">
            <a:solidFill>
              <a:srgbClr val="3A3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2926080"/>
            <a:ext cx="4389120" cy="731520"/>
          </a:xfrm>
          <a:prstGeom prst="rect">
            <a:avLst/>
          </a:prstGeom>
          <a:noFill/>
        </p:spPr>
        <p:txBody>
          <a:bodyPr wrap="square">
            <a:spAutoFit/>
          </a:bodyPr>
          <a:lstStyle/>
          <a:p>
            <a:pPr algn="ctr">
              <a:defRPr sz="1400" b="0">
                <a:solidFill>
                  <a:srgbClr val="8A8EA8"/>
                </a:solidFill>
                <a:latin typeface="Calibri Light"/>
              </a:defRPr>
            </a:pPr>
            <a:r>
              <a:t>[Visual: see slides.md for specs]</a:t>
            </a:r>
          </a:p>
        </p:txBody>
      </p:sp>
      <p:sp>
        <p:nvSpPr>
          <p:cNvPr id="13" name="TextBox 12"/>
          <p:cNvSpPr txBox="1"/>
          <p:nvPr/>
        </p:nvSpPr>
        <p:spPr>
          <a:xfrm>
            <a:off x="731520" y="5669280"/>
            <a:ext cx="10058400" cy="548640"/>
          </a:xfrm>
          <a:prstGeom prst="rect">
            <a:avLst/>
          </a:prstGeom>
          <a:noFill/>
        </p:spPr>
        <p:txBody>
          <a:bodyPr wrap="square">
            <a:spAutoFit/>
          </a:bodyPr>
          <a:lstStyle/>
          <a:p>
            <a:pPr algn="l">
              <a:defRPr sz="1600" b="0">
                <a:solidFill>
                  <a:srgbClr val="4EC9B0"/>
                </a:solidFill>
                <a:latin typeface="Calibri Light"/>
              </a:defRPr>
            </a:pPr>
            <a:r>
              <a:t>Not a concept — a certified, deployable design</a:t>
            </a:r>
          </a:p>
        </p:txBody>
      </p:sp>
      <p:sp>
        <p:nvSpPr>
          <p:cNvPr id="14" name="TextBox 13"/>
          <p:cNvSpPr txBox="1"/>
          <p:nvPr/>
        </p:nvSpPr>
        <p:spPr>
          <a:xfrm>
            <a:off x="10972800" y="6217920"/>
            <a:ext cx="914400" cy="365760"/>
          </a:xfrm>
          <a:prstGeom prst="rect">
            <a:avLst/>
          </a:prstGeom>
          <a:noFill/>
        </p:spPr>
        <p:txBody>
          <a:bodyPr wrap="square">
            <a:spAutoFit/>
          </a:bodyPr>
          <a:lstStyle/>
          <a:p>
            <a:pPr algn="r">
              <a:defRPr sz="1100" b="0">
                <a:solidFill>
                  <a:srgbClr val="606480"/>
                </a:solidFill>
                <a:latin typeface="Calibri Light"/>
              </a:defRPr>
            </a:pPr>
            <a:r>
              <a:t>5/8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Rectangle 1"/>
          <p:cNvSpPr/>
          <p:nvPr/>
        </p:nvSpPr>
        <p:spPr>
          <a:xfrm>
            <a:off x="0" y="0"/>
            <a:ext cx="12192000" cy="54864"/>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822960"/>
          </a:xfrm>
          <a:prstGeom prst="rect">
            <a:avLst/>
          </a:prstGeom>
          <a:noFill/>
        </p:spPr>
        <p:txBody>
          <a:bodyPr wrap="square">
            <a:spAutoFit/>
          </a:bodyPr>
          <a:lstStyle/>
          <a:p>
            <a:pPr algn="l">
              <a:defRPr sz="3600" b="1">
                <a:solidFill>
                  <a:srgbClr val="FFFFFF"/>
                </a:solidFill>
                <a:latin typeface="Calibri"/>
              </a:defRPr>
            </a:pPr>
            <a:r>
              <a:t>The Economic Reality</a:t>
            </a:r>
          </a:p>
        </p:txBody>
      </p:sp>
      <p:sp>
        <p:nvSpPr>
          <p:cNvPr id="4" name="Rectangle 3"/>
          <p:cNvSpPr/>
          <p:nvPr/>
        </p:nvSpPr>
        <p:spPr>
          <a:xfrm>
            <a:off x="731520" y="1234440"/>
            <a:ext cx="228600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6" name="TextBox 5"/>
          <p:cNvSpPr txBox="1"/>
          <p:nvPr/>
        </p:nvSpPr>
        <p:spPr>
          <a:xfrm>
            <a:off x="1097280" y="1645920"/>
            <a:ext cx="5029200" cy="502920"/>
          </a:xfrm>
          <a:prstGeom prst="rect">
            <a:avLst/>
          </a:prstGeom>
          <a:noFill/>
        </p:spPr>
        <p:txBody>
          <a:bodyPr wrap="square">
            <a:spAutoFit/>
          </a:bodyPr>
          <a:lstStyle/>
          <a:p>
            <a:pPr algn="l">
              <a:defRPr sz="2000" b="0">
                <a:solidFill>
                  <a:srgbClr val="D0D4E4"/>
                </a:solidFill>
                <a:latin typeface="Calibri Light"/>
              </a:defRPr>
            </a:pPr>
            <a:r>
              <a:t>Capital cost: $6,000-$10,000/kW installed</a:t>
            </a:r>
          </a:p>
        </p:txBody>
      </p:sp>
      <p:sp>
        <p:nvSpPr>
          <p:cNvPr id="7" name="TextBox 6"/>
          <p:cNvSpPr txBox="1"/>
          <p:nvPr/>
        </p:nvSpPr>
        <p:spPr>
          <a:xfrm>
            <a:off x="731520" y="224028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8" name="TextBox 7"/>
          <p:cNvSpPr txBox="1"/>
          <p:nvPr/>
        </p:nvSpPr>
        <p:spPr>
          <a:xfrm>
            <a:off x="1097280" y="2240280"/>
            <a:ext cx="5029200" cy="502920"/>
          </a:xfrm>
          <a:prstGeom prst="rect">
            <a:avLst/>
          </a:prstGeom>
          <a:noFill/>
        </p:spPr>
        <p:txBody>
          <a:bodyPr wrap="square">
            <a:spAutoFit/>
          </a:bodyPr>
          <a:lstStyle/>
          <a:p>
            <a:pPr algn="l">
              <a:defRPr sz="2000" b="0">
                <a:solidFill>
                  <a:srgbClr val="D0D4E4"/>
                </a:solidFill>
                <a:latin typeface="Calibri Light"/>
              </a:defRPr>
            </a:pPr>
            <a:r>
              <a:t>LCOE: $65-90/MWh vs. solar at $30-40</a:t>
            </a:r>
          </a:p>
        </p:txBody>
      </p:sp>
      <p:sp>
        <p:nvSpPr>
          <p:cNvPr id="9" name="TextBox 8"/>
          <p:cNvSpPr txBox="1"/>
          <p:nvPr/>
        </p:nvSpPr>
        <p:spPr>
          <a:xfrm>
            <a:off x="731520" y="283464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10" name="TextBox 9"/>
          <p:cNvSpPr txBox="1"/>
          <p:nvPr/>
        </p:nvSpPr>
        <p:spPr>
          <a:xfrm>
            <a:off x="1097280" y="2834640"/>
            <a:ext cx="5029200" cy="502920"/>
          </a:xfrm>
          <a:prstGeom prst="rect">
            <a:avLst/>
          </a:prstGeom>
          <a:noFill/>
        </p:spPr>
        <p:txBody>
          <a:bodyPr wrap="square">
            <a:spAutoFit/>
          </a:bodyPr>
          <a:lstStyle/>
          <a:p>
            <a:pPr algn="l">
              <a:defRPr sz="2000" b="0">
                <a:solidFill>
                  <a:srgbClr val="D0D4E4"/>
                </a:solidFill>
                <a:latin typeface="Calibri Light"/>
              </a:defRPr>
            </a:pPr>
            <a:r>
              <a:t>Idaho project cancelled — FOAK risk is real</a:t>
            </a:r>
          </a:p>
        </p:txBody>
      </p:sp>
      <p:sp>
        <p:nvSpPr>
          <p:cNvPr id="11" name="Rounded Rectangle 10"/>
          <p:cNvSpPr/>
          <p:nvPr/>
        </p:nvSpPr>
        <p:spPr>
          <a:xfrm>
            <a:off x="6583680" y="1371600"/>
            <a:ext cx="4846320" cy="3840480"/>
          </a:xfrm>
          <a:prstGeom prst="roundRect">
            <a:avLst/>
          </a:prstGeom>
          <a:noFill/>
          <a:ln w="12700">
            <a:solidFill>
              <a:srgbClr val="3A3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2926080"/>
            <a:ext cx="4389120" cy="731520"/>
          </a:xfrm>
          <a:prstGeom prst="rect">
            <a:avLst/>
          </a:prstGeom>
          <a:noFill/>
        </p:spPr>
        <p:txBody>
          <a:bodyPr wrap="square">
            <a:spAutoFit/>
          </a:bodyPr>
          <a:lstStyle/>
          <a:p>
            <a:pPr algn="ctr">
              <a:defRPr sz="1400" b="0">
                <a:solidFill>
                  <a:srgbClr val="8A8EA8"/>
                </a:solidFill>
                <a:latin typeface="Calibri Light"/>
              </a:defRPr>
            </a:pPr>
            <a:r>
              <a:t>[Visual: see slides.md for specs]</a:t>
            </a:r>
          </a:p>
        </p:txBody>
      </p:sp>
      <p:sp>
        <p:nvSpPr>
          <p:cNvPr id="13" name="TextBox 12"/>
          <p:cNvSpPr txBox="1"/>
          <p:nvPr/>
        </p:nvSpPr>
        <p:spPr>
          <a:xfrm>
            <a:off x="731520" y="5669280"/>
            <a:ext cx="10058400" cy="548640"/>
          </a:xfrm>
          <a:prstGeom prst="rect">
            <a:avLst/>
          </a:prstGeom>
          <a:noFill/>
        </p:spPr>
        <p:txBody>
          <a:bodyPr wrap="square">
            <a:spAutoFit/>
          </a:bodyPr>
          <a:lstStyle/>
          <a:p>
            <a:pPr algn="l">
              <a:defRPr sz="1600" b="0">
                <a:solidFill>
                  <a:srgbClr val="4EC9B0"/>
                </a:solidFill>
                <a:latin typeface="Calibri Light"/>
              </a:defRPr>
            </a:pPr>
            <a:r>
              <a:t>Loss of economies of scale is the core structural problem</a:t>
            </a:r>
          </a:p>
        </p:txBody>
      </p:sp>
      <p:sp>
        <p:nvSpPr>
          <p:cNvPr id="14" name="TextBox 13"/>
          <p:cNvSpPr txBox="1"/>
          <p:nvPr/>
        </p:nvSpPr>
        <p:spPr>
          <a:xfrm>
            <a:off x="10972800" y="6217920"/>
            <a:ext cx="914400" cy="365760"/>
          </a:xfrm>
          <a:prstGeom prst="rect">
            <a:avLst/>
          </a:prstGeom>
          <a:noFill/>
        </p:spPr>
        <p:txBody>
          <a:bodyPr wrap="square">
            <a:spAutoFit/>
          </a:bodyPr>
          <a:lstStyle/>
          <a:p>
            <a:pPr algn="r">
              <a:defRPr sz="1100" b="0">
                <a:solidFill>
                  <a:srgbClr val="606480"/>
                </a:solidFill>
                <a:latin typeface="Calibri Light"/>
              </a:defRPr>
            </a:pPr>
            <a:r>
              <a:t>6/8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Rectangle 1"/>
          <p:cNvSpPr/>
          <p:nvPr/>
        </p:nvSpPr>
        <p:spPr>
          <a:xfrm>
            <a:off x="0" y="0"/>
            <a:ext cx="12192000" cy="54864"/>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822960"/>
          </a:xfrm>
          <a:prstGeom prst="rect">
            <a:avLst/>
          </a:prstGeom>
          <a:noFill/>
        </p:spPr>
        <p:txBody>
          <a:bodyPr wrap="square">
            <a:spAutoFit/>
          </a:bodyPr>
          <a:lstStyle/>
          <a:p>
            <a:pPr algn="l">
              <a:defRPr sz="3600" b="1">
                <a:solidFill>
                  <a:srgbClr val="FFFFFF"/>
                </a:solidFill>
                <a:latin typeface="Calibri"/>
              </a:defRPr>
            </a:pPr>
            <a:r>
              <a:t>Barriers to Deployment</a:t>
            </a:r>
          </a:p>
        </p:txBody>
      </p:sp>
      <p:sp>
        <p:nvSpPr>
          <p:cNvPr id="4" name="Rectangle 3"/>
          <p:cNvSpPr/>
          <p:nvPr/>
        </p:nvSpPr>
        <p:spPr>
          <a:xfrm>
            <a:off x="731520" y="1234440"/>
            <a:ext cx="228600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6" name="TextBox 5"/>
          <p:cNvSpPr txBox="1"/>
          <p:nvPr/>
        </p:nvSpPr>
        <p:spPr>
          <a:xfrm>
            <a:off x="1097280" y="1645920"/>
            <a:ext cx="5029200" cy="502920"/>
          </a:xfrm>
          <a:prstGeom prst="rect">
            <a:avLst/>
          </a:prstGeom>
          <a:noFill/>
        </p:spPr>
        <p:txBody>
          <a:bodyPr wrap="square">
            <a:spAutoFit/>
          </a:bodyPr>
          <a:lstStyle/>
          <a:p>
            <a:pPr algn="l">
              <a:defRPr sz="2000" b="0">
                <a:solidFill>
                  <a:srgbClr val="D0D4E4"/>
                </a:solidFill>
                <a:latin typeface="Calibri Light"/>
              </a:defRPr>
            </a:pPr>
            <a:r>
              <a:t>Regulatory: licensing not built for modular</a:t>
            </a:r>
          </a:p>
        </p:txBody>
      </p:sp>
      <p:sp>
        <p:nvSpPr>
          <p:cNvPr id="7" name="TextBox 6"/>
          <p:cNvSpPr txBox="1"/>
          <p:nvPr/>
        </p:nvSpPr>
        <p:spPr>
          <a:xfrm>
            <a:off x="731520" y="224028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8" name="TextBox 7"/>
          <p:cNvSpPr txBox="1"/>
          <p:nvPr/>
        </p:nvSpPr>
        <p:spPr>
          <a:xfrm>
            <a:off x="1097280" y="2240280"/>
            <a:ext cx="5029200" cy="502920"/>
          </a:xfrm>
          <a:prstGeom prst="rect">
            <a:avLst/>
          </a:prstGeom>
          <a:noFill/>
        </p:spPr>
        <p:txBody>
          <a:bodyPr wrap="square">
            <a:spAutoFit/>
          </a:bodyPr>
          <a:lstStyle/>
          <a:p>
            <a:pPr algn="l">
              <a:defRPr sz="2000" b="0">
                <a:solidFill>
                  <a:srgbClr val="D0D4E4"/>
                </a:solidFill>
                <a:latin typeface="Calibri Light"/>
              </a:defRPr>
            </a:pPr>
            <a:r>
              <a:t>Supply chain: factory model unproven at scale</a:t>
            </a:r>
          </a:p>
        </p:txBody>
      </p:sp>
      <p:sp>
        <p:nvSpPr>
          <p:cNvPr id="9" name="TextBox 8"/>
          <p:cNvSpPr txBox="1"/>
          <p:nvPr/>
        </p:nvSpPr>
        <p:spPr>
          <a:xfrm>
            <a:off x="731520" y="283464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10" name="TextBox 9"/>
          <p:cNvSpPr txBox="1"/>
          <p:nvPr/>
        </p:nvSpPr>
        <p:spPr>
          <a:xfrm>
            <a:off x="1097280" y="2834640"/>
            <a:ext cx="5029200" cy="502920"/>
          </a:xfrm>
          <a:prstGeom prst="rect">
            <a:avLst/>
          </a:prstGeom>
          <a:noFill/>
        </p:spPr>
        <p:txBody>
          <a:bodyPr wrap="square">
            <a:spAutoFit/>
          </a:bodyPr>
          <a:lstStyle/>
          <a:p>
            <a:pPr algn="l">
              <a:defRPr sz="2000" b="0">
                <a:solidFill>
                  <a:srgbClr val="D0D4E4"/>
                </a:solidFill>
                <a:latin typeface="Calibri Light"/>
              </a:defRPr>
            </a:pPr>
            <a:r>
              <a:t>Market: solar/wind costs still falling</a:t>
            </a:r>
          </a:p>
        </p:txBody>
      </p:sp>
      <p:sp>
        <p:nvSpPr>
          <p:cNvPr id="11" name="Rounded Rectangle 10"/>
          <p:cNvSpPr/>
          <p:nvPr/>
        </p:nvSpPr>
        <p:spPr>
          <a:xfrm>
            <a:off x="6583680" y="1371600"/>
            <a:ext cx="4846320" cy="3840480"/>
          </a:xfrm>
          <a:prstGeom prst="roundRect">
            <a:avLst/>
          </a:prstGeom>
          <a:noFill/>
          <a:ln w="12700">
            <a:solidFill>
              <a:srgbClr val="3A3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2926080"/>
            <a:ext cx="4389120" cy="731520"/>
          </a:xfrm>
          <a:prstGeom prst="rect">
            <a:avLst/>
          </a:prstGeom>
          <a:noFill/>
        </p:spPr>
        <p:txBody>
          <a:bodyPr wrap="square">
            <a:spAutoFit/>
          </a:bodyPr>
          <a:lstStyle/>
          <a:p>
            <a:pPr algn="ctr">
              <a:defRPr sz="1400" b="0">
                <a:solidFill>
                  <a:srgbClr val="8A8EA8"/>
                </a:solidFill>
                <a:latin typeface="Calibri Light"/>
              </a:defRPr>
            </a:pPr>
            <a:r>
              <a:t>[Visual: see slides.md for specs]</a:t>
            </a:r>
          </a:p>
        </p:txBody>
      </p:sp>
      <p:sp>
        <p:nvSpPr>
          <p:cNvPr id="13" name="TextBox 12"/>
          <p:cNvSpPr txBox="1"/>
          <p:nvPr/>
        </p:nvSpPr>
        <p:spPr>
          <a:xfrm>
            <a:off x="731520" y="5669280"/>
            <a:ext cx="10058400" cy="548640"/>
          </a:xfrm>
          <a:prstGeom prst="rect">
            <a:avLst/>
          </a:prstGeom>
          <a:noFill/>
        </p:spPr>
        <p:txBody>
          <a:bodyPr wrap="square">
            <a:spAutoFit/>
          </a:bodyPr>
          <a:lstStyle/>
          <a:p>
            <a:pPr algn="l">
              <a:defRPr sz="1600" b="0">
                <a:solidFill>
                  <a:srgbClr val="4EC9B0"/>
                </a:solidFill>
                <a:latin typeface="Calibri Light"/>
              </a:defRPr>
            </a:pPr>
            <a:r>
              <a:t>Nth-of-a-kind economics require the first plants to get built</a:t>
            </a:r>
          </a:p>
        </p:txBody>
      </p:sp>
      <p:sp>
        <p:nvSpPr>
          <p:cNvPr id="14" name="TextBox 13"/>
          <p:cNvSpPr txBox="1"/>
          <p:nvPr/>
        </p:nvSpPr>
        <p:spPr>
          <a:xfrm>
            <a:off x="10972800" y="6217920"/>
            <a:ext cx="914400" cy="365760"/>
          </a:xfrm>
          <a:prstGeom prst="rect">
            <a:avLst/>
          </a:prstGeom>
          <a:noFill/>
        </p:spPr>
        <p:txBody>
          <a:bodyPr wrap="square">
            <a:spAutoFit/>
          </a:bodyPr>
          <a:lstStyle/>
          <a:p>
            <a:pPr algn="r">
              <a:defRPr sz="1100" b="0">
                <a:solidFill>
                  <a:srgbClr val="606480"/>
                </a:solidFill>
                <a:latin typeface="Calibri Light"/>
              </a:defRPr>
            </a:pPr>
            <a:r>
              <a:t>7/8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Rectangle 1"/>
          <p:cNvSpPr/>
          <p:nvPr/>
        </p:nvSpPr>
        <p:spPr>
          <a:xfrm>
            <a:off x="0" y="0"/>
            <a:ext cx="12192000" cy="54864"/>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058400" cy="822960"/>
          </a:xfrm>
          <a:prstGeom prst="rect">
            <a:avLst/>
          </a:prstGeom>
          <a:noFill/>
        </p:spPr>
        <p:txBody>
          <a:bodyPr wrap="square">
            <a:spAutoFit/>
          </a:bodyPr>
          <a:lstStyle/>
          <a:p>
            <a:pPr algn="l">
              <a:defRPr sz="3600" b="1">
                <a:solidFill>
                  <a:srgbClr val="FFFFFF"/>
                </a:solidFill>
                <a:latin typeface="Calibri"/>
              </a:defRPr>
            </a:pPr>
            <a:r>
              <a:t>Where SMRs Fit</a:t>
            </a:r>
          </a:p>
        </p:txBody>
      </p:sp>
      <p:sp>
        <p:nvSpPr>
          <p:cNvPr id="4" name="Rectangle 3"/>
          <p:cNvSpPr/>
          <p:nvPr/>
        </p:nvSpPr>
        <p:spPr>
          <a:xfrm>
            <a:off x="731520" y="1234440"/>
            <a:ext cx="2286000" cy="36576"/>
          </a:xfrm>
          <a:prstGeom prst="rect">
            <a:avLst/>
          </a:prstGeom>
          <a:solidFill>
            <a:srgbClr val="4EC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6" name="TextBox 5"/>
          <p:cNvSpPr txBox="1"/>
          <p:nvPr/>
        </p:nvSpPr>
        <p:spPr>
          <a:xfrm>
            <a:off x="1097280" y="1645920"/>
            <a:ext cx="5029200" cy="502920"/>
          </a:xfrm>
          <a:prstGeom prst="rect">
            <a:avLst/>
          </a:prstGeom>
          <a:noFill/>
        </p:spPr>
        <p:txBody>
          <a:bodyPr wrap="square">
            <a:spAutoFit/>
          </a:bodyPr>
          <a:lstStyle/>
          <a:p>
            <a:pPr algn="l">
              <a:defRPr sz="2000" b="0">
                <a:solidFill>
                  <a:srgbClr val="D0D4E4"/>
                </a:solidFill>
                <a:latin typeface="Calibri Light"/>
              </a:defRPr>
            </a:pPr>
            <a:r>
              <a:t>Not a silver bullet — a specific tool</a:t>
            </a:r>
          </a:p>
        </p:txBody>
      </p:sp>
      <p:sp>
        <p:nvSpPr>
          <p:cNvPr id="7" name="TextBox 6"/>
          <p:cNvSpPr txBox="1"/>
          <p:nvPr/>
        </p:nvSpPr>
        <p:spPr>
          <a:xfrm>
            <a:off x="731520" y="224028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8" name="TextBox 7"/>
          <p:cNvSpPr txBox="1"/>
          <p:nvPr/>
        </p:nvSpPr>
        <p:spPr>
          <a:xfrm>
            <a:off x="1097280" y="2240280"/>
            <a:ext cx="5029200" cy="502920"/>
          </a:xfrm>
          <a:prstGeom prst="rect">
            <a:avLst/>
          </a:prstGeom>
          <a:noFill/>
        </p:spPr>
        <p:txBody>
          <a:bodyPr wrap="square">
            <a:spAutoFit/>
          </a:bodyPr>
          <a:lstStyle/>
          <a:p>
            <a:pPr algn="l">
              <a:defRPr sz="2000" b="0">
                <a:solidFill>
                  <a:srgbClr val="D0D4E4"/>
                </a:solidFill>
                <a:latin typeface="Calibri Light"/>
              </a:defRPr>
            </a:pPr>
            <a:r>
              <a:t>Firm, dispatchable, low-carbon baseload</a:t>
            </a:r>
          </a:p>
        </p:txBody>
      </p:sp>
      <p:sp>
        <p:nvSpPr>
          <p:cNvPr id="9" name="TextBox 8"/>
          <p:cNvSpPr txBox="1"/>
          <p:nvPr/>
        </p:nvSpPr>
        <p:spPr>
          <a:xfrm>
            <a:off x="731520" y="2834640"/>
            <a:ext cx="365760" cy="457200"/>
          </a:xfrm>
          <a:prstGeom prst="rect">
            <a:avLst/>
          </a:prstGeom>
          <a:noFill/>
        </p:spPr>
        <p:txBody>
          <a:bodyPr wrap="square">
            <a:spAutoFit/>
          </a:bodyPr>
          <a:lstStyle/>
          <a:p>
            <a:pPr algn="l">
              <a:defRPr sz="1800" b="0">
                <a:solidFill>
                  <a:srgbClr val="4EC9B0"/>
                </a:solidFill>
                <a:latin typeface="Calibri"/>
              </a:defRPr>
            </a:pPr>
            <a:r>
              <a:t>▸</a:t>
            </a:r>
          </a:p>
        </p:txBody>
      </p:sp>
      <p:sp>
        <p:nvSpPr>
          <p:cNvPr id="10" name="TextBox 9"/>
          <p:cNvSpPr txBox="1"/>
          <p:nvPr/>
        </p:nvSpPr>
        <p:spPr>
          <a:xfrm>
            <a:off x="1097280" y="2834640"/>
            <a:ext cx="5029200" cy="502920"/>
          </a:xfrm>
          <a:prstGeom prst="rect">
            <a:avLst/>
          </a:prstGeom>
          <a:noFill/>
        </p:spPr>
        <p:txBody>
          <a:bodyPr wrap="square">
            <a:spAutoFit/>
          </a:bodyPr>
          <a:lstStyle/>
          <a:p>
            <a:pPr algn="l">
              <a:defRPr sz="2000" b="0">
                <a:solidFill>
                  <a:srgbClr val="D0D4E4"/>
                </a:solidFill>
                <a:latin typeface="Calibri Light"/>
              </a:defRPr>
            </a:pPr>
            <a:r>
              <a:t>Engineering proven; barrier is economic &amp; solvable</a:t>
            </a:r>
          </a:p>
        </p:txBody>
      </p:sp>
      <p:sp>
        <p:nvSpPr>
          <p:cNvPr id="11" name="Rounded Rectangle 10"/>
          <p:cNvSpPr/>
          <p:nvPr/>
        </p:nvSpPr>
        <p:spPr>
          <a:xfrm>
            <a:off x="6583680" y="1371600"/>
            <a:ext cx="4846320" cy="3840480"/>
          </a:xfrm>
          <a:prstGeom prst="roundRect">
            <a:avLst/>
          </a:prstGeom>
          <a:noFill/>
          <a:ln w="12700">
            <a:solidFill>
              <a:srgbClr val="3A3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2926080"/>
            <a:ext cx="4389120" cy="731520"/>
          </a:xfrm>
          <a:prstGeom prst="rect">
            <a:avLst/>
          </a:prstGeom>
          <a:noFill/>
        </p:spPr>
        <p:txBody>
          <a:bodyPr wrap="square">
            <a:spAutoFit/>
          </a:bodyPr>
          <a:lstStyle/>
          <a:p>
            <a:pPr algn="ctr">
              <a:defRPr sz="1400" b="0">
                <a:solidFill>
                  <a:srgbClr val="8A8EA8"/>
                </a:solidFill>
                <a:latin typeface="Calibri Light"/>
              </a:defRPr>
            </a:pPr>
            <a:r>
              <a:t>[Visual: see slides.md for specs]</a:t>
            </a:r>
          </a:p>
        </p:txBody>
      </p:sp>
      <p:sp>
        <p:nvSpPr>
          <p:cNvPr id="13" name="TextBox 12"/>
          <p:cNvSpPr txBox="1"/>
          <p:nvPr/>
        </p:nvSpPr>
        <p:spPr>
          <a:xfrm>
            <a:off x="731520" y="5669280"/>
            <a:ext cx="10058400" cy="548640"/>
          </a:xfrm>
          <a:prstGeom prst="rect">
            <a:avLst/>
          </a:prstGeom>
          <a:noFill/>
        </p:spPr>
        <p:txBody>
          <a:bodyPr wrap="square">
            <a:spAutoFit/>
          </a:bodyPr>
          <a:lstStyle/>
          <a:p>
            <a:pPr algn="l">
              <a:defRPr sz="1600" b="0">
                <a:solidFill>
                  <a:srgbClr val="4EC9B0"/>
                </a:solidFill>
                <a:latin typeface="Calibri Light"/>
              </a:defRPr>
            </a:pPr>
            <a:r>
              <a:t>The grid needs what renewables alone cannot provide</a:t>
            </a:r>
          </a:p>
        </p:txBody>
      </p:sp>
      <p:sp>
        <p:nvSpPr>
          <p:cNvPr id="14" name="TextBox 13"/>
          <p:cNvSpPr txBox="1"/>
          <p:nvPr/>
        </p:nvSpPr>
        <p:spPr>
          <a:xfrm>
            <a:off x="10972800" y="6217920"/>
            <a:ext cx="914400" cy="365760"/>
          </a:xfrm>
          <a:prstGeom prst="rect">
            <a:avLst/>
          </a:prstGeom>
          <a:noFill/>
        </p:spPr>
        <p:txBody>
          <a:bodyPr wrap="square">
            <a:spAutoFit/>
          </a:bodyPr>
          <a:lstStyle/>
          <a:p>
            <a:pPr algn="r">
              <a:defRPr sz="1100" b="0">
                <a:solidFill>
                  <a:srgbClr val="606480"/>
                </a:solidFill>
                <a:latin typeface="Calibri Light"/>
              </a:defRPr>
            </a:pPr>
            <a:r>
              <a:t>8/8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